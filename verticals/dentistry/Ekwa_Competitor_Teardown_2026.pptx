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EKWA MARKETING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Competitor Teardown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Framework · Top 10 Competitors · 5 Strategic Dimensions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3520440"/>
            <a:ext cx="1554480" cy="146304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3520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828800" y="4343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3520440"/>
            <a:ext cx="1554480" cy="146304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3520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166360" y="4343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THREAT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0" y="3520440"/>
            <a:ext cx="1554480" cy="146304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3520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503920" y="4343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·  Confidential &amp; Proprietary  ·  For Internal Strategic Use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3566160" cy="274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645920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Threat Landscape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225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Framework Overview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62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809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Competitor Deep Dives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 Map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279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Vulnerability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937760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956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Strategic Maneuvers to Execute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596128"/>
            <a:ext cx="320040" cy="3200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596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6144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Ekwa Competitor Teardown 2026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297680" y="777240"/>
            <a:ext cx="7589520" cy="3657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91440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applies a MECE (Mutually Exclusive, Collectively Exhaustive) framework to evaluate Ekwa's top 10 competitors across 5 strategic dimensions. The findings identify concrete vulnerabilities and 3 actionable strategic maneuvers to exploit.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237744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2377440"/>
            <a:ext cx="45720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36576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97680" y="3657600"/>
            <a:ext cx="45720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&amp; Margins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297680" y="493776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97680" y="4937760"/>
            <a:ext cx="45720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6320" y="5212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138160" y="237744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38160" y="2377440"/>
            <a:ext cx="45720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3" name="Text 41"/>
          <p:cNvSpPr/>
          <p:nvPr/>
        </p:nvSpPr>
        <p:spPr>
          <a:xfrm>
            <a:off x="81381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Operational Moats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138160" y="36576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38160" y="3657600"/>
            <a:ext cx="457200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7" name="Text 45"/>
          <p:cNvSpPr/>
          <p:nvPr/>
        </p:nvSpPr>
        <p:spPr>
          <a:xfrm>
            <a:off x="81381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6868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Vulnerabilities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74904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73152" cy="1280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DoctorLogic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AI/GEO patient acquisition 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clients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$1,500–$5,000/mo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73152" cy="1280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Amplify360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Growth System™ + training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$800–$3,500/mo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52628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526280"/>
            <a:ext cx="73152" cy="1280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PatientPop/Tebra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+ billing + marketing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clients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$700–$2,000/mo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1097280"/>
            <a:ext cx="374904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THREAT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06240" y="169164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169164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Wonderist Agency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4340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storytelling + community engagement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434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200-400 clients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$1,200–$3,500/mo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310896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06240" y="310896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Proportions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4340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Dental Marketing™ framework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434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500-800 clients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$1,000–$2,500/mo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452628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06240" y="452628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0" name="Text 38"/>
          <p:cNvSpPr/>
          <p:nvPr/>
        </p:nvSpPr>
        <p:spPr>
          <a:xfrm>
            <a:off x="434340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Mktg for Dentists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34340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 ad spend data + implant niche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4340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clients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$1,000–$4,000/mo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06240" y="594360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594360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6" name="Text 44"/>
          <p:cNvSpPr/>
          <p:nvPr/>
        </p:nvSpPr>
        <p:spPr>
          <a:xfrm>
            <a:off x="4343400" y="6035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LassoMD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343400" y="6400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ROI guarantee + PatientLoop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43400" y="6766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clients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35040" y="6766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$1,500–$4,000/mo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38160" y="1097280"/>
            <a:ext cx="3749040" cy="4572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38160" y="169164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138160" y="1691640"/>
            <a:ext cx="73152" cy="12801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4" name="Text 52"/>
          <p:cNvSpPr/>
          <p:nvPr/>
        </p:nvSpPr>
        <p:spPr>
          <a:xfrm>
            <a:off x="827532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 Dental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27532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lead generation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753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300-600 clients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96696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$800–$2,500/mo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138160" y="310896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138160" y="3108960"/>
            <a:ext cx="73152" cy="12801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0" name="Text 58"/>
          <p:cNvSpPr/>
          <p:nvPr/>
        </p:nvSpPr>
        <p:spPr>
          <a:xfrm>
            <a:off x="82753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Impressions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27532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Trust-building + proactive partnership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7532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300-600 clients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9669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$1,000–$3,000/mo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38160" y="4526280"/>
            <a:ext cx="3749040" cy="128016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138160" y="4526280"/>
            <a:ext cx="73152" cy="12801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6" name="Text 64"/>
          <p:cNvSpPr/>
          <p:nvPr/>
        </p:nvSpPr>
        <p:spPr>
          <a:xfrm>
            <a:off x="827532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Cafe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27532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+ transparent pricing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27532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500-1,000 clients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96696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$795–$2,000/mo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COMPETITOR COMPARISON MATRIX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97280"/>
          <a:ext cx="11887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188720"/>
                <a:gridCol w="1828800"/>
                <a:gridCol w="1828800"/>
                <a:gridCol w="2286000"/>
                <a:gridCol w="64008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Value Prop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Cost/Mo Est.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GTM Motion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Moat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Vulnerability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DoctorLogic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AI/GEO patient acquisition platform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$1,500–$5,000/mo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sales + DSO focus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platform + data + enterprise contracts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alienates independents; unproven AI ROI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Amplify360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Growth System™ + training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$800–$3,500/mo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clients, educator-led outbound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+ training lock-in + PE backing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Post-merger chaos; brand confusion; commoditized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Wonderist Agency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storytelling + community engagement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$1,200–$3,500/mo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Referral-driven boutique growth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reputation + brand loyalty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data/ROI; not scalable; limited DSO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Proportions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Dental Marketing™ framework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$1,000–$2,500/mo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Assoc. partnerships + webinars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20-year brand + transparent pricing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 methodology; no tech innovation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Mktg for Dentists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$60M ad spend data + implant niche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$1,000–$4,000/mo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+ implant conference focus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155k+ tested ads; volume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exclusivity; limited branding; PPC-only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KickStart Dental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lead generation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$800–$2,500/mo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+ direct outreach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focus + established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tech; no brand; easily replicated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LassoMD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 ROI guarantee + PatientLoop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$1,500–$4,000/mo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as conversion tool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guarantee + platform dependency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hard to backstop; newer; labor-intensive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Impressions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Trust-building + proactive partnership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$1,000–$3,000/mo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+ relationship-led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depth + proactive culture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tech diff; small scale; limited innovation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Cafe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 + transparent pricing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$795–$2,000/mo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transparency + vendor referrals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trust + long tenure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to bottom; no exclusivity; low margins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PatientPop/Tebra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+ billing + marketing platform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$700–$2,000/mo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 + Henry Schein distribution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lock-in + 10k clients + VC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Generalist; not dental-only; billing complexity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 rot="5400000">
            <a:off x="91440" y="2286000"/>
            <a:ext cx="640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Lower / Higher →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0" y="6217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General / Dental-Only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SPECIALIZATION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5120640" cy="4846320"/>
          </a:xfrm>
          <a:prstGeom prst="rect">
            <a:avLst/>
          </a:prstGeom>
          <a:solidFill>
            <a:srgbClr val="FEF9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097280"/>
            <a:ext cx="5120640" cy="4846320"/>
          </a:xfrm>
          <a:prstGeom prst="rect">
            <a:avLst/>
          </a:prstGeom>
          <a:solidFill>
            <a:srgbClr val="EBF5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943600"/>
            <a:ext cx="5120640" cy="274320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5943600"/>
            <a:ext cx="5120640" cy="2743200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88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+ High Tech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188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Dental-Specific + High Tech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6035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+ Low Tech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6035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Dental-Specific + Low Tech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56932" y="1893722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214061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DoctorLogic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73822" y="4398264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6602" y="46451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Amplify360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72484" y="1590142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183703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PatientPop/Tebra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88298" y="6675120"/>
            <a:ext cx="228600" cy="228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1078" y="6922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993124" y="6295644"/>
            <a:ext cx="228600" cy="228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65425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Prop.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68996" y="4929530"/>
            <a:ext cx="228600" cy="228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51776" y="517641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WM4Dentists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44868" y="4018788"/>
            <a:ext cx="228600" cy="228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42656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LassoMD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6932" y="6902806"/>
            <a:ext cx="228600" cy="2286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714969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49694" y="6447434"/>
            <a:ext cx="228600" cy="2286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2474" y="669432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Impress.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64170" y="7054596"/>
            <a:ext cx="228600" cy="2286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46950" y="73014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Cafe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948672" y="3191256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00032" y="35753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EKWA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Zone)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14400" y="6492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 Threat    ● MEDIUM Threat    ● LOW Threat    ● EKWA Target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 COMPETITORS —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3764280" cy="548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3764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330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DoctorLogic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0708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AI/GEO patient acquisition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856232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$1,500–$5,000/mo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157984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+ data + enterprise contracts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459736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alienates independents; unproven AI ROI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6035040"/>
            <a:ext cx="35814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6126480"/>
            <a:ext cx="3581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1,000+  |  $1,500–$5,000/mo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30040" y="1051560"/>
            <a:ext cx="3764280" cy="548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30040" y="1051560"/>
            <a:ext cx="3764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221480" y="1097280"/>
            <a:ext cx="330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Amplify360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0852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2148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18760" y="1554480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Growth System™ +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2148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18760" y="1856232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$800–$3,500/mo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2148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18760" y="2157984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training lock-in + PE backing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2148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18760" y="2459736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chaos; brand confusion; commoditized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21480" y="6035040"/>
            <a:ext cx="35814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9"/>
          <p:cNvSpPr/>
          <p:nvPr/>
        </p:nvSpPr>
        <p:spPr>
          <a:xfrm>
            <a:off x="4221480" y="6126480"/>
            <a:ext cx="3581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5,000+  |  $800–$3,500/mo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31480" y="1051560"/>
            <a:ext cx="3764280" cy="548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31480" y="1051560"/>
            <a:ext cx="3764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8122920" y="1097280"/>
            <a:ext cx="330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PatientPop/Tebra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0996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2292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20200" y="1554480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+ billing + marketing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2292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20200" y="1856232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$700–$2,000/mo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2292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20200" y="2157984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lock-in + 10k clients + VC capital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2292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20200" y="2459736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Generalist; not dental-only; billing complexity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22920" y="6035040"/>
            <a:ext cx="35814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Text 43"/>
          <p:cNvSpPr/>
          <p:nvPr/>
        </p:nvSpPr>
        <p:spPr>
          <a:xfrm>
            <a:off x="8122920" y="6126480"/>
            <a:ext cx="3581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10,000+  |  $700–$2,000/mo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THREAT COMPETITORS —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57150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5715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Wonderist Agency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5780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storytelling + community engagement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856232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$1,200–$3,500/mo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157984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reputation + brand loyalty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459736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data/ROI; not scalable; limited DSO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553212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2918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200-400  |  $1,200–$3,500/mo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1051560"/>
            <a:ext cx="57150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051560"/>
            <a:ext cx="5715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0972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Proportions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0996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69480" y="1554480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Dental Marketing™ framework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1856232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$1,000–$2,500/mo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69480" y="2157984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brand + transparent pricing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9480" y="2459736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methodology; no tech innovation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3200400"/>
            <a:ext cx="553212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2918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500-800  |  $1,000–$2,500/mo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886200"/>
            <a:ext cx="57150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886200"/>
            <a:ext cx="5715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931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Mktg for Dentists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9776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438912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389120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 ad spend data + implant niche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69087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17320" y="4690872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$1,000–$4,000/mo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99262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17320" y="4992624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155k+ tested ads; volume data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" y="529437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17320" y="5294376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exclusivity; limited branding; PPC-only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6035040"/>
            <a:ext cx="553212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612648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2,000+  |  $1,000–$4,000/mo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3886200"/>
            <a:ext cx="57150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0760" y="3886200"/>
            <a:ext cx="5715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6172200" y="3931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LassoMD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109960" y="39776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438912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69480" y="4389120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ROI guarantee + PatientLoop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469087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69480" y="4690872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$1,500–$4,000/mo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72200" y="499262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69480" y="4992624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guarantee + platform dependency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72200" y="529437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69480" y="5294376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hard to backstop; newer; labor-intensive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6035040"/>
            <a:ext cx="553212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9" name="Text 57"/>
          <p:cNvSpPr/>
          <p:nvPr/>
        </p:nvSpPr>
        <p:spPr>
          <a:xfrm>
            <a:off x="6172200" y="612648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200-500  |  $1,500–$4,000/mo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 COMPETITORS —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3764280" cy="548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3764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330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 Dental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0708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lead generation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856232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$800–$2,500/mo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157984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focus + established 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459736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tech; no brand; easily replicated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6035040"/>
            <a:ext cx="35814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6126480"/>
            <a:ext cx="3581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300-600  |  $800–$2,500/mo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30040" y="1051560"/>
            <a:ext cx="3764280" cy="548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30040" y="1051560"/>
            <a:ext cx="3764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221480" y="1097280"/>
            <a:ext cx="330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Impressions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0852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2148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18760" y="1554480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Trust-building + proactive partnership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2148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18760" y="1856232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$1,000–$3,000/mo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2148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18760" y="2157984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depth + proactive culture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2148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18760" y="2459736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diff; small scale; limited innovation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21480" y="6035040"/>
            <a:ext cx="35814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9"/>
          <p:cNvSpPr/>
          <p:nvPr/>
        </p:nvSpPr>
        <p:spPr>
          <a:xfrm>
            <a:off x="4221480" y="6126480"/>
            <a:ext cx="3581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300-600  |  $1,000–$3,000/mo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31480" y="1051560"/>
            <a:ext cx="3764280" cy="548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31480" y="1051560"/>
            <a:ext cx="37642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8122920" y="1097280"/>
            <a:ext cx="330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Cafe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09960" y="1143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22920" y="15544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20200" y="1554480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+ transparent pricing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22920" y="18562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20200" y="1856232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$795–$2,000/mo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22920" y="21579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20200" y="2157984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trust + long tenure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22920" y="24597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20200" y="2459736"/>
            <a:ext cx="2529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to bottom; no exclusivity; low margins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22920" y="6035040"/>
            <a:ext cx="35814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Text 43"/>
          <p:cNvSpPr/>
          <p:nvPr/>
        </p:nvSpPr>
        <p:spPr>
          <a:xfrm>
            <a:off x="8122920" y="6126480"/>
            <a:ext cx="3581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500-1,000  |  $795–$2,000/mo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VULNERABILITY ANALYSIS — Where Competitors Are Exposed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760720" cy="16002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600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Integration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chaos, talent churn, brand confusion — creating 24-month window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Amplify360  ·  PatientPop/Tebra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760720" cy="16002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188720"/>
            <a:ext cx="73152" cy="1600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Dental Exclusivity Per Market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serve competing practices in the same ZIP code — Ekwa's biggest moat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Amplify360  ·  WM4Dentists  ·  Practice Cafe  ·  KickStart  ·  PatientPop/Tebra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760720" cy="16002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73152" cy="1600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AI/Tech ROI Claims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marketed but gap between platform features and actual patient bookings unproven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DoctorLogic  ·  PatientPop/Tebra  ·  LassoMD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5760720" cy="16002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971800"/>
            <a:ext cx="73152" cy="1600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/ Non-Dental Positioning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474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all healthcare equally means dental specialty depth is diluted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PatientPop/Tebra  ·  KickStart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5760720" cy="16002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754880"/>
            <a:ext cx="73152" cy="16002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46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vs. Service Quality Tension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257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client bases create commoditized service; individual practices feel neglected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760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Amplify360  ·  WM4Dentists  ·  Practice Cafe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5760720" cy="16002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4754880"/>
            <a:ext cx="73152" cy="16002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846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/ Analytics Capability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5257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Brand-first or relationship-first agencies struggle to demonstrate measurable ROI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5760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Wonderist  ·  Golden Prop.  ·  Pro Impressions  ·  KickStart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274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</a:t>
            </a:r>
            <a:endParaRPr lang="en-US" sz="3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292608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Opportunity Window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Amplify360 (5,000+ clients in post-merger chaos) + KickStart + Practice Cafe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5029200"/>
            <a:ext cx="3108960" cy="10972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 net new clients | $1.5M ARR addition in 12 months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Exclusivity Lock™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8229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Post-Merger Amplify360 Client Displacement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1280160"/>
            <a:ext cx="82296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9019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'Tired of Being One of 5,000?' targeted campaign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269748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7249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Amplify360 displacement 'Switch Kit' — 90-day free onboarding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52044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35478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exclusivity-focused landing page: 'One Practice. One Agency. One Market.'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434340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43708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LinkedIn outreach to dentists tagged in Amplify360 posts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516636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5166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51937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dental consultants noticing Amplify360 client dissatisfaction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274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</a:t>
            </a:r>
            <a:endParaRPr lang="en-US" sz="3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292608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Window Before AI Matures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DoctorLogic (AI/GEO hype) + PatientPop/Tebra (AI-first platform)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5029200"/>
            <a:ext cx="3108960" cy="10972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30 net new clients | 40% increase in competitor comparison organic traffic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AI Credibility Shield™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8229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Outflank DoctorLogic &amp; Tebra on AI Narrative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1280160"/>
            <a:ext cx="8229600" cy="3657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9019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'AI in Dental Marketing: What Actually Works (And What Doesn't)'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2697480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7249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'Verified Results Dashboard' — 16 years of real dental data vs. AI promises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520440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35478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'Human-Expert-Led Marketing' campaign: Real Experts. Real Patients. Real Results.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4343400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43708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'Ekwa vs. AI Platforms' comparison tool on website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5166360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5166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51937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5-10 DoctorLogic/Tebra clients frustrated with AI feature overload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274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</a:t>
            </a:r>
            <a:endParaRPr lang="en-US" sz="3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292608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First-Mover Window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DSOs with 3-20 locations — underserved Goldilocks segment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5029200"/>
            <a:ext cx="3108960" cy="10972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 DSO clients × avg 7 locations = 35 locations | $735K–$2.1M ARR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DSO Frontier™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8229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Up-Market Before DoctorLogic Locks DSOs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1280160"/>
            <a:ext cx="8229600" cy="3657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274320" cy="2743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9019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'Ekwa DSO Program' — per-location exclusivity + unified brand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2697480"/>
            <a:ext cx="274320" cy="2743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7249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independent DSOs (3-20 locations) — too big for boutiques, too small for enterprise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520440"/>
            <a:ext cx="274320" cy="2743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35478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DSO-specific case study demonstrating location-by-location exclusivity 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4343400"/>
            <a:ext cx="274320" cy="2743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43708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speaking slots at DSO Summit, DSO Evolution, Group Dentistry Now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5166360"/>
            <a:ext cx="274320" cy="2743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5166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51937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dental CPAs + transition planners as referral channel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3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926080"/>
            <a:ext cx="384048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31089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Ekwa Marketing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7040880" cy="777240"/>
          </a:xfrm>
          <a:prstGeom prst="rect">
            <a:avLst/>
          </a:prstGeom>
          <a:solidFill>
            <a:srgbClr val="000000">
              <a:alpha val="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0" y="11704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analysis with Ekwa leadership + marketing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7040880" cy="777240"/>
          </a:xfrm>
          <a:prstGeom prst="rect">
            <a:avLst/>
          </a:prstGeom>
          <a:solidFill>
            <a:srgbClr val="000000">
              <a:alpha val="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0848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Maneuver #1 (Amplify360 displacement): Build Switch Kit and landing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0" y="17830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651760"/>
            <a:ext cx="7040880" cy="777240"/>
          </a:xfrm>
          <a:prstGeom prst="rect">
            <a:avLst/>
          </a:prstGeom>
          <a:solidFill>
            <a:srgbClr val="000000">
              <a:alpha val="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9992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'AI Credibility Shield' whitepaper and comparison tool (Maneuver #2)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0" y="26974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7040880" cy="777240"/>
          </a:xfrm>
          <a:prstGeom prst="rect">
            <a:avLst/>
          </a:prstGeom>
          <a:solidFill>
            <a:srgbClr val="000000">
              <a:alpha val="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9136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5 target DSO groups for Maneuver #3 outreach; build DSO Program offering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0" y="36118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Leadership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480560"/>
            <a:ext cx="7040880" cy="777240"/>
          </a:xfrm>
          <a:prstGeom prst="rect">
            <a:avLst/>
          </a:prstGeom>
          <a:solidFill>
            <a:srgbClr val="000000">
              <a:alpha val="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4828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competitive monitoring: Google Alerts, LinkedIn alerts for each competitor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0" y="45262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5394960"/>
            <a:ext cx="7040880" cy="777240"/>
          </a:xfrm>
          <a:prstGeom prst="rect">
            <a:avLst/>
          </a:prstGeom>
          <a:solidFill>
            <a:srgbClr val="000000">
              <a:alpha val="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5440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57424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this competitive analysis with new data and win/loss tracking updates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0" y="5440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Ekwa Marketing Competitor Teardown 2026</dc:title>
  <dc:subject>PptxGenJS Presentation</dc:subject>
  <dc:creator>Ekwa Marketing Strategy Team</dc:creator>
  <cp:lastModifiedBy>Ekwa Marketing Strategy Team</cp:lastModifiedBy>
  <cp:revision>1</cp:revision>
  <dcterms:created xsi:type="dcterms:W3CDTF">2026-02-28T16:00:43Z</dcterms:created>
  <dcterms:modified xsi:type="dcterms:W3CDTF">2026-02-28T16:00:43Z</dcterms:modified>
</cp:coreProperties>
</file>